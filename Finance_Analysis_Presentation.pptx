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client. This presentation covers the Finance Analysis Dashboard built on 50,069 real transactions and 5,000 customers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3 headline takeaways: strong volume, omnichannel strength, and fraud well under control. The 5 KPI cards give instant orientation.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dominance of Retail segment but highlight Premium + Wealth = 1,143 customers who generate disproportionate revenue. Maharashtra and Gujarat together account for over 25% of the customer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Loan EMI as the #1 type is a positive signal — it indicates a healthy lending portfolio with recurring monthly cash flows. Highlight the even channel distribution — no single channel is overloaded.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1.26% fraud rate is good — industry average is 1-3%. Focus client attention on the actionable issues: pending transactions and data quality. These are quick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4-priority model: fix issues now (01, 02), then pursue growth (03, 04). Emphasise that the foundation is solid — these are optimisations, not fixes to a broken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 confident note. Offer to take questions and provide a deeper dive into any specific segment, channel, or risk band the client wants to explore.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24355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1463040" cy="1463040"/>
          </a:xfrm>
          <a:prstGeom prst="ellipse">
            <a:avLst/>
          </a:prstGeom>
          <a:solidFill>
            <a:srgbClr val="243556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3840480"/>
            <a:ext cx="822960" cy="822960"/>
          </a:xfrm>
          <a:prstGeom prst="ellipse">
            <a:avLst/>
          </a:prstGeom>
          <a:solidFill>
            <a:srgbClr val="24355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Analysis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097280" y="3291840"/>
            <a:ext cx="109728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  ·  Finance Analytics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₹456 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50,069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the entire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C5D0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80160"/>
            <a:ext cx="457200" cy="457200"/>
          </a:xfrm>
          <a:prstGeom prst="ellipse">
            <a:avLst/>
          </a:prstGeom>
          <a:solidFill>
            <a:srgbClr val="EBF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₹456 Cr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280160"/>
            <a:ext cx="457200" cy="457200"/>
          </a:xfrm>
          <a:prstGeom prst="ellipse">
            <a:avLst/>
          </a:prstGeom>
          <a:solidFill>
            <a:srgbClr val="EBF3FF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8013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85.7%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280160"/>
            <a:ext cx="457200" cy="457200"/>
          </a:xfrm>
          <a:prstGeom prst="ellipse">
            <a:avLst/>
          </a:prstGeom>
          <a:solidFill>
            <a:srgbClr val="EB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8013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280160"/>
            <a:ext cx="457200" cy="457200"/>
          </a:xfrm>
          <a:prstGeom prst="ellipse">
            <a:avLst/>
          </a:prstGeom>
          <a:solidFill>
            <a:srgbClr val="EB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8013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3212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280160"/>
            <a:ext cx="457200" cy="457200"/>
          </a:xfrm>
          <a:prstGeom prst="ellipse">
            <a:avLst/>
          </a:prstGeom>
          <a:solidFill>
            <a:srgbClr val="EB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8013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₹9,110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2D7DD2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 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474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₹456 crore in gross transaction volume with ₹7.3 lakh in fee revenue collected — reflecting a healthy, active customer portfolio.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73552" y="30632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Channel Mix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474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channels (Branch, UPI, ATM, Net Banking, POS, Auto Debit, Mobile) are within 12% of each other — true omnichannel adoption.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30632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227064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Under Control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27064" y="3474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1.26% fraud rate — well within the 1–3% industry benchmark. 98.74% of all transactions are completely clean.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customers — diverse segments, occupations &amp; geography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C5D0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481328"/>
            <a:ext cx="3291840" cy="20116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481328"/>
            <a:ext cx="1780885" cy="2011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44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2,703 (54.1%)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1975104"/>
            <a:ext cx="3291840" cy="20116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975104"/>
            <a:ext cx="589239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38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 (17.9%)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323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08760" y="2468880"/>
            <a:ext cx="3291840" cy="20116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508760" y="2468880"/>
            <a:ext cx="513527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432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 (15.6%)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08760" y="2962656"/>
            <a:ext cx="3291840" cy="20116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508760" y="2962656"/>
            <a:ext cx="246888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 (7.5%)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198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08760" y="3456432"/>
            <a:ext cx="3291840" cy="20116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508760" y="3456432"/>
            <a:ext cx="164592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198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(5%)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1704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1444752"/>
            <a:ext cx="36576" cy="2560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1444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14447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828800"/>
            <a:ext cx="36576" cy="2560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1828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212848"/>
            <a:ext cx="36576" cy="2560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4" name="Text 32"/>
          <p:cNvSpPr/>
          <p:nvPr/>
        </p:nvSpPr>
        <p:spPr>
          <a:xfrm>
            <a:off x="6510528" y="2212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596896"/>
            <a:ext cx="36576" cy="2560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2596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2596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2980944"/>
            <a:ext cx="36576" cy="2560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29809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2980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364992"/>
            <a:ext cx="36576" cy="2560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3364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479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EBF3FF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114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645920" y="4114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customers are the largest occupation group (855), followed closely by Students (846) and Salaried employees (836). This even occupational spread indicates diverse, stable transaction patterns and creates strong cross-sell opportunities for retirement and investment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50,069 transactions across 10 types and 7 channels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C5D0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EMI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472184"/>
            <a:ext cx="3474720" cy="1828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472184"/>
            <a:ext cx="3474720" cy="18288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444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892808"/>
            <a:ext cx="3474720" cy="1828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1640" y="1892808"/>
            <a:ext cx="3223430" cy="182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865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8,479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313432"/>
            <a:ext cx="3474720" cy="1828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1640" y="2313432"/>
            <a:ext cx="2025906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286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5,329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066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91640" y="2734056"/>
            <a:ext cx="3474720" cy="1828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1640" y="2734056"/>
            <a:ext cx="1889427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7066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4,970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91640" y="3154680"/>
            <a:ext cx="3474720" cy="1828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1640" y="3154680"/>
            <a:ext cx="1638517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127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547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575304"/>
            <a:ext cx="3474720" cy="1828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1640" y="3575304"/>
            <a:ext cx="1626732" cy="18288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5478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4,279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1704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481328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32" name="Text 30"/>
          <p:cNvSpPr/>
          <p:nvPr/>
        </p:nvSpPr>
        <p:spPr>
          <a:xfrm>
            <a:off x="6647688" y="1444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1444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7,236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1828800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35" name="Text 33"/>
          <p:cNvSpPr/>
          <p:nvPr/>
        </p:nvSpPr>
        <p:spPr>
          <a:xfrm>
            <a:off x="6647688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1792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7,206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176272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38" name="Text 36"/>
          <p:cNvSpPr/>
          <p:nvPr/>
        </p:nvSpPr>
        <p:spPr>
          <a:xfrm>
            <a:off x="6647688" y="2139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92440" y="21396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7,185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2523744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41" name="Text 39"/>
          <p:cNvSpPr/>
          <p:nvPr/>
        </p:nvSpPr>
        <p:spPr>
          <a:xfrm>
            <a:off x="6647688" y="2487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92440" y="2487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7,125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2871216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44" name="Text 42"/>
          <p:cNvSpPr/>
          <p:nvPr/>
        </p:nvSpPr>
        <p:spPr>
          <a:xfrm>
            <a:off x="6647688" y="2834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9244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7,119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218688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47" name="Text 45"/>
          <p:cNvSpPr/>
          <p:nvPr/>
        </p:nvSpPr>
        <p:spPr>
          <a:xfrm>
            <a:off x="6647688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Debit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92440" y="3182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7,084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0" y="3566160"/>
            <a:ext cx="182880" cy="18288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50" name="Text 48"/>
          <p:cNvSpPr/>
          <p:nvPr/>
        </p:nvSpPr>
        <p:spPr>
          <a:xfrm>
            <a:off x="6647688" y="3529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92440" y="35295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6,344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1B2A4A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Category Leaders: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606040" y="405993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· Salary · Groceries · Insurance · Food Delivery · Shopping · Healthcare — each with 3,500–3,700 transactions. No single category dominates, indicating a fully diversified spend ecosystem.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Fraud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overall risk — targeted areas for improvement identified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C5D0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1.26% of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117043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2618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49,437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78608" y="16733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Transactions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78608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98.74% fraud-free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0016" y="117043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2618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36.1/100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0016" y="16733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Risk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at 36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117043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12618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2,036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21424" y="16733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Txns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21424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 stuck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87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DISTRIBUTION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(1–25)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2779776"/>
            <a:ext cx="2560320" cy="1828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2779776"/>
            <a:ext cx="128016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2743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090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(26–50)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127248"/>
            <a:ext cx="2560320" cy="1828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3127248"/>
            <a:ext cx="256032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(51–75)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3474720"/>
            <a:ext cx="2560320" cy="1828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3474720"/>
            <a:ext cx="768096" cy="182880"/>
          </a:xfrm>
          <a:prstGeom prst="rect">
            <a:avLst/>
          </a:prstGeom>
          <a:solidFill>
            <a:srgbClr val="D45050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3438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7856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(76–100)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20240" y="3822192"/>
            <a:ext cx="2560320" cy="1828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20240" y="3822192"/>
            <a:ext cx="512064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3785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4871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2743200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27797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2,036 pending transactions need investigation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12080" y="3108960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1455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name inconsistencies in raw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12080" y="3474720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35112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field case mismatch (INR vs inr)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12080" y="3840480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6350">
            <a:solidFill>
              <a:srgbClr val="C5D0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38770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in "fisrt_name" column needs correction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priority actions to maximise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2435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24355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62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417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7099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pending 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2,036 stuck transactions (4.1%). Set up payment gateway retry logic and alerting to prevent future build-up.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243556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1362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50408" y="1417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56632" y="17099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56632" y="201168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channel names, normalise currency to "INR", and fix the "fisrt_name" column typo. Run a one-time ETL cleanup.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24355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118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34655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retired &amp; premium segments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7673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(855) + Premium (895) = 1,750 high-value customers. Launch wealth management and FD products targeted at these groups.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990088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243556"/>
          </a:solidFill>
          <a:ln/>
        </p:spPr>
      </p:sp>
      <p:sp>
        <p:nvSpPr>
          <p:cNvPr id="21" name="Text 19"/>
          <p:cNvSpPr/>
          <p:nvPr/>
        </p:nvSpPr>
        <p:spPr>
          <a:xfrm>
            <a:off x="5056632" y="3118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50408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56632" y="34655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mobile app adoption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37673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lags all channels by ~12%. A mobile-first campaign in Gujarat and Karnataka can close this gap and reduce branch costs.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4355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24355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331720"/>
            <a:ext cx="1828800" cy="4572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8716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on 50,069 real transactions · 5,000 customers · Insights ready to act on"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160520"/>
            <a:ext cx="9144000" cy="978408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315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Volume: ₹456 Cr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42032" y="4315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85.7%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8304" y="4315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Rate: 1.26%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94576" y="4315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5,000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2026-08-22T15:59:09Z</dcterms:created>
  <dcterms:modified xsi:type="dcterms:W3CDTF">2026-08-22T15:59:09Z</dcterms:modified>
</cp:coreProperties>
</file>